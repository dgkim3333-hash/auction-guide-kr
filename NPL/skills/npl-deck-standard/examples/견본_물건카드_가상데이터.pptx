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 장. 판단은 사용자가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관점을 나란히.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최우선 확인 사항.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회차 시나리오.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배당 순서. 사다리·엑셀·폭포와 금액이 같아야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권리 사다리.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문건 타임라인.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당해세 산출.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질권대출 반영.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3열 비교.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확인 목록.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계약일 체크리스트.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물건카드 · NPL 매입(관점 1) + 직접 낙찰(관점 2)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샘플지원 2099타경0000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샘플시 가나구 다라동 123-4 샘플빌라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다가구주택 · 임차인 8가구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42062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 배포 금지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2099-01-01 · 작성자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보기 — 채권은 상한 아래로 사면 이익, 직접 보유는 맞지 않는다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2회 유찰 · 예상 낙찰 2,000,000,000원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7607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말하면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4장만 읽어도 결론이 서야 한다. 이 문장은 그 장의 결론을 한 줄로 다시 말한다.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샘플지원 2099타경0000 · 다라동 123-4 · 대외 배포 금지 · 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0876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EEF3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6184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관점 1 매입 상한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19476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1,500,000,000원</a:t>
            </a:r>
            <a:endParaRPr lang="en-US" sz="205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5328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청구액의 71.4%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355848" y="150876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E8F7F1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38728" y="16184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배당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538728" y="19476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1,871,000,000원</a:t>
            </a:r>
            <a:endParaRPr lang="en-US" sz="2050" dirty="0"/>
          </a:p>
        </p:txBody>
      </p:sp>
      <p:sp>
        <p:nvSpPr>
          <p:cNvPr id="16" name="Text 13"/>
          <p:cNvSpPr txBox="1"/>
          <p:nvPr/>
        </p:nvSpPr>
        <p:spPr>
          <a:xfrm>
            <a:off x="3538728" y="25328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세전 이익 371,000,000원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163056" y="150876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4E5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45936" y="16184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빠지는 최우선변제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345936" y="19476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110,000,000원</a:t>
            </a:r>
            <a:endParaRPr lang="en-US" sz="2300" dirty="0"/>
          </a:p>
        </p:txBody>
      </p:sp>
      <p:sp>
        <p:nvSpPr>
          <p:cNvPr id="20" name="Text 17"/>
          <p:cNvSpPr txBox="1"/>
          <p:nvPr/>
        </p:nvSpPr>
        <p:spPr>
          <a:xfrm>
            <a:off x="6345936" y="25328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낙찰가의 5.5%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970264" y="150876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DECE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53144" y="161848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관점 2 직접 보유(법인)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153144" y="19476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CoC 1.20%</a:t>
            </a:r>
            <a:endParaRPr lang="en-US" sz="2300" dirty="0"/>
          </a:p>
        </p:txBody>
      </p:sp>
      <p:sp>
        <p:nvSpPr>
          <p:cNvPr id="24" name="Text 21"/>
          <p:cNvSpPr txBox="1"/>
          <p:nvPr/>
        </p:nvSpPr>
        <p:spPr>
          <a:xfrm>
            <a:off x="9153144" y="25328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대출 0원 가정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356616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관점 1 — 판정 한 줄 + 핵심 금액.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관점 2 — 판정 한 줄 + 핵심 금액.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변수 — ① ② ③ (다음 「결정 전 닫을 3가지」 장과 같은 순서).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관점 나란히 — 관점 1 매입가와 관점 2 입찰 판단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기준 회차 · 판단은 사용자가 한다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7607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말하면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채권을 사서 배당으로 회수하는 것이 기본이고, 직접 낙찰은 최악의 경우를 대비한 계산이다.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샘플지원 2099타경0000 · 다라동 123-4 · 대외 배포 금지 · 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617720"/>
                <a:gridCol w="46177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관점 1 — NPL 매입 후 제3자 낙찰 · 배당 회수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관점 2 — 최악 시 직접 낙찰(유입 · 채권 상계)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★★★ 조건부 매입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유입 시 NO-GO 권고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금액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매입 상한 1,500,000,000원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총투입(법인) 1,760,000,000원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성과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배당 1,871,000,000원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Cash-on-Cash 1.20%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질권대출 반영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세전 371,000,000원 → 질권 이자 빼면 310,897,260원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닫을 것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감정가 · 선순위 조세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규제지역 · 명도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6345936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_model.json (가상)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전에 반드시 닫을 3가지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이것이 확인되기 전에는 매입가를 확정하지 않는다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7607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말하면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가지가 좋은 쪽으로 닫히면 매입 상한이 올라가고, 하나라도 나쁘면 내려간다.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샘플지원 2099타경0000 · 다라동 123-4 · 대외 배포 금지 · 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41732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5453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법원 감정가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15270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감정평가서 공개 전.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566160" y="19202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감정가가 낮게 나오면 배당이 줄어든다.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566160" y="23042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어디서: 담당 경매계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283464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FF4E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29626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선순위 조세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3566160" y="29443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교부청구 법정기일 미확인.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566160" y="333756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근저당보다 빠르면 그만큼 배당이 준다.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566160" y="372160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어디서: 관할 세무서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425196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43799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보증금 미상 임차인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43616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권리신고서 원본 미확인.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3566160" y="47548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소액이면 최우선변제가 늘어난다.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3566160" y="513892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어디서: 현황조사서 · 권리신고서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관점 1 · NPL 매입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회차에 팔리느냐가 결과를 가른다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회차 = 누적 매각 확률이 50%를 처음 넘는 회차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7607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말하면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회차는 가격대를 정하고, 응찰자 수가 그 안에서의 위치를 정한다.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샘플지원 2099타경0000 · 다라동 123-4 · 대외 배포 금지 · 5</a:t>
            </a:r>
            <a:endParaRPr lang="en-US" sz="900" dirty="0"/>
          </a:p>
        </p:txBody>
      </p:sp>
      <p:pic>
        <p:nvPicPr>
          <p:cNvPr id="9" name="Image 0" descr="/tmp/claude-0/-home-claude/b0bbf021-eed1-5b01-8be2-d2ebbfec8757/scratchpad/t6/ch/sc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9781953" cy="42062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6345936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가상 데이터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관점 1 · NPL 매입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배당은 이 순서로 나간다 — 우리 채권 몫 1,871,000,000원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집행비용 → 최우선변제 → 당해세 → 1순위 근저당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7607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말하면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당해세·최우선변제는 「소멸」이 아니라 근저당보다 먼저 빠지는 돈이다(주황).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샘플지원 2099타경0000 · 다라동 123-4 · 대외 배포 금지 · 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2120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37744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집행비용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15,000,000원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977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977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최우선변제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D977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110,000,000원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977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977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당해세(재산세+종부세)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D977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4,000,000원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채권 배당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1,871,000,000원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pic>
        <p:nvPicPr>
          <p:cNvPr id="10" name="Image 0" descr="/tmp/claude-0/-home-claude/b0bbf021-eed1-5b01-8be2-d2ebbfec8757/scratchpad/t6/ch/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417320"/>
            <a:ext cx="5577840" cy="20972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6345936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가상 데이터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권리 · 문건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권리 — 인수 0원, 최우선변제·당해세가 근저당보다 먼저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말소기준 아래는 소멸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7607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말하면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인수할 권리가 없고, 먼저 빠지는 돈은 주황으로 금액까지 적었다.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샘플지원 2099타경0000 · 다라동 123-4 · 대외 배포 금지 · 7</a:t>
            </a:r>
            <a:endParaRPr lang="en-US" sz="900" dirty="0"/>
          </a:p>
        </p:txBody>
      </p:sp>
      <p:pic>
        <p:nvPicPr>
          <p:cNvPr id="9" name="Image 0" descr="/tmp/claude-0/-home-claude/b0bbf021-eed1-5b01-8be2-d2ebbfec8757/scratchpad/t6/ch/lad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64240" cy="400525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6345936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등기부 원문(가상)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권리 · 문건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문건 — 지연 원인은 교부청구와 미상 임차인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법원 문건접수·송달 내역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7607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말하면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빨강·주황 점이 결론을 흔드는 문건이다.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샘플지원 2099타경0000 · 다라동 123-4 · 대외 배포 금지 · 8</a:t>
            </a:r>
            <a:endParaRPr lang="en-US" sz="900" dirty="0"/>
          </a:p>
        </p:txBody>
      </p:sp>
      <p:pic>
        <p:nvPicPr>
          <p:cNvPr id="9" name="Image 0" descr="/tmp/claude-0/-home-claude/b0bbf021-eed1-5b01-8be2-d2ebbfec8757/scratchpad/t6/ch/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9431031" cy="42062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6345936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문건접수내역(가상)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권리 · 문건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당해 연도 당해세 4,000,000원 — 재산세와 종부세를 따로 계산해 합쳤다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미납 가정 · 세율·납기는 그 답변에서 조문 조회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7607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말하면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세목을 각각 보이고 합계를 배당표·사다리·폭포·엑셀에 같은 금액으로 넣는다.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샘플지원 2099타경0000 · 다라동 123-4 · 대외 배포 금지 · 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400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재산세(+가산)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3,000,000원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종부세(+가산)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1,000,000원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①+② 당해세 합계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4,000,000원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6345936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가상 데이터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관점 1 · NPL 매입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세전 371,000,000원 — 질권대출 이자를 빼면 310,897,260원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질권 LTV 75% · 연 6.50% · 보유 300일 [가정]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7607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말하면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무차입 값만 보면 이익이 부풀어 보인다. 질권 이자를 뺀 값을 함께 본다.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샘플지원 2099타경0000 · 다라동 123-4 · 대외 배포 금지 · 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778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무차입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질권대출 사용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매입가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1,500,000,000원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1,500,000,000원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질권대출금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1,125,000,000원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질권대출 이자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60,102,740원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채권 배당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1,871,000,000원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1,871,000,000원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세전 손익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371,000,000원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310,897,260원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6345936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가상 데이터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세금 — 배당 회수 / 유입(개인) / 유입(법인)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세금 장은 최소 3장(취득세 · 재산세·종부세 · 3열 비교) — 이 견본은 3열 비교만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7607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말하면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유입하면 보유세가 임대 순수익 대부분을 가져간다.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샘플지원 2099타경0000 · 다라동 123-4 · 대외 배포 금지 · 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배당 회수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유입(개인)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유입(법인)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총투입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1,509,000,000원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1,700,000,000원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1,760,000,000원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취득세 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38,000,000원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96,000,000원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보유세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6,500,000원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21,000,000원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세후 수익률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18.2%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2.1%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1.2%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6345936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가상 데이터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관점 2 · 직접 낙찰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확인해야 할 것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최우선 항목을 닫기 전에는 입찰가·매입가를 확정하지 않는다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7607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말하면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항목도 지우지 않고 남긴다.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샘플지원 2099타경0000 · 다라동 123-4 · 대외 배포 금지 · 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108960"/>
                <a:gridCol w="310896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최우선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법원 감정가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경매계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배당 전체가 바뀐다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9770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교부청구 법정기일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관할 세무서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근저당보다 앞서는지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보증금 미상 2건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현황조사서 · 권리신고서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최우선변제 합계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전입세대 열람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주민센터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대항력 0명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계약일 — 이 다섯 가지만 확인한다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계약일에는 법무사가 오지 않는다 · 잔금일·법무사 요청은 다음 장에서 따로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7607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말하면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많으면 확인에 시간이 걸린다. 금액이 바뀌는 것만 남겼다.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샘플지원 2099타경0000 · 다라동 123-4 · 대외 배포 금지 · 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98755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5943600"/>
                <a:gridCol w="3200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경매 사건번호 · 접수증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매도 금융기관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임차인 명단 별지 · 진술보장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전입세대확인서 재발급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매도 금융기관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채권양도통지서 · 사무위임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매도 금융기관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매매대금 조정 조항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면책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8755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라벨: [확정] 직접 조회 · [검증필요] 원본 확인 전 · [추정] 가정 · [정보부족] 자료 없음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7607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5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말하면 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덱은 가상 데이터로 만든 견본이다.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샘플지원 2099타경0000 · 다라동 123-4 · 대외 배포 금지 · 14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54480"/>
            <a:ext cx="11064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시세: 국토교통부 실거래가(조회 경로·조회일 표기)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법령: 조문 번호와 조회일(그 답변에서 직접 조회한 것만 [확정])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법원 서류: 매각물건명세서 · 등기부 원문 · 현황조사서 · 문건접수내역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판단은 의사결정자가 한다. 이 자료는 투자 권유가 아니다.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물건카드 샘플지원 2099타경0000 샘플시 가나구 다라동 123-4 샘플빌라</dc:title>
  <dc:subject>PptxGenJS Presentation</dc:subject>
  <dc:creator>작성자</dc:creator>
  <cp:lastModifiedBy>작성자</cp:lastModifiedBy>
  <cp:revision>1</cp:revision>
  <dcterms:created xsi:type="dcterms:W3CDTF">2026-10-08T09:35:33Z</dcterms:created>
  <dcterms:modified xsi:type="dcterms:W3CDTF">2026-10-08T09:35:33Z</dcterms:modified>
</cp:coreProperties>
</file>